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ice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Lora" panose="020F0502020204030204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5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5" d="100"/>
          <a:sy n="45" d="100"/>
        </p:scale>
        <p:origin x="339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257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7741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Xây Dựng Website Quản Lý Hiệu Sách Trực Tuyến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351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Báo cáo môn học: Phân tích và Thiết kế Phần mềm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20351" y="4808339"/>
            <a:ext cx="72162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Nhóm thực hiện: </a:t>
            </a:r>
            <a:r>
              <a:rPr lang="en-US" sz="1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Nhóm 1 – Lớp PTTKPM25-26_N06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4553188"/>
            <a:ext cx="30480" cy="873204"/>
          </a:xfrm>
          <a:prstGeom prst="rect">
            <a:avLst/>
          </a:prstGeom>
          <a:solidFill>
            <a:srgbClr val="1B5F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80190" y="5681543"/>
            <a:ext cx="7556421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Công nghệ nền tảng: </a:t>
            </a: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NestJS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ReactJS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TailwindCSS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MySQL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4087"/>
            <a:ext cx="82481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Mục Tiêu Chiến Lược Của Đề Tài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2649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Hệ thống được thiết kế nhằm hiện đại hóa quy trình quản lý hiệu sách, từ đó tối ưu hóa trải nghiệm người dùng và hiệu suất vận hành.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07450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0604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821311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Nền tảng Trực tuyến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5031938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Xây dựng hệ thống quản lý hiệu sách trên môi trường web, tiếp cận khách hàng rộng rãi hơn.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407450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43776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3821311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Quản lý Tối ưu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3776" y="5031938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Hỗ trợ quản lý tập trung các danh mục: sách, khách hàng, và đơn hàng một cách chính xác.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407450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866948" y="36342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3821311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4541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Giao diện Thân thiện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66948" y="5031938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Đảm bảo giao diện người dùng trực quan, dễ thao tác, phù hợp cho cả quản trị viên và khách hàng.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93790" y="66026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Mục tiêu cuối cùng là giảm thiểu sai sót, nâng cao hiệu quả vận hành và kiểm soát hàng tồn kho.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471" y="563642"/>
            <a:ext cx="8270319" cy="64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Lý Do Lựa Chọn Và Tầm Quan Trọng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7471" y="1614130"/>
            <a:ext cx="1319545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Việc số hóa quy trình quản lý sách là nhu cầu cấp thiết trong bối cảnh thị trường thương mại điện tử phát triển mạnh mẽ.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385" y="2409825"/>
            <a:ext cx="307419" cy="3074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3625" y="2403396"/>
            <a:ext cx="4642604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Kinh doanh sách trực tuyến tăng trưởng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83625" y="2928580"/>
            <a:ext cx="6366272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Thị trường sách E-commerce mở rộng, đòi hỏi một nền tảng quản lý chuyên nghiệp.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385" y="4000976"/>
            <a:ext cx="307419" cy="3074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83625" y="3994547"/>
            <a:ext cx="4174212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Khắc phục hạn chế quản lý thủ công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383625" y="4519732"/>
            <a:ext cx="6366272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Giải quyết vấn đề thất thoát, sai sót và khó kiểm soát tồn kho từ các phương pháp truyền thống.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385" y="5592128"/>
            <a:ext cx="307419" cy="3074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83625" y="5585698"/>
            <a:ext cx="4250055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Ứng dụng kiến thức PTTKPM thực tế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383625" y="6110883"/>
            <a:ext cx="6366272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Biến lý thuyết phân tích và thiết kế phần mềm thành giải pháp thực tiễn, có khả năng triển khai.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580" y="2403396"/>
            <a:ext cx="5662851" cy="56628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3254"/>
            <a:ext cx="96859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Phạm Vi Và Đối Tượng Sử Dụng Chính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356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Đề tài tập trung xây dựng một website quản lý hoạt động trên nền tảng web, kết nối đến cơ sở dữ liệu tập trung.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53715"/>
            <a:ext cx="6407944" cy="2411254"/>
          </a:xfrm>
          <a:prstGeom prst="roundRect">
            <a:avLst>
              <a:gd name="adj" fmla="val 1411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4270" y="3084195"/>
            <a:ext cx="6346984" cy="680442"/>
          </a:xfrm>
          <a:prstGeom prst="rect">
            <a:avLst/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7621" y="3254216"/>
            <a:ext cx="340162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3991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Quản Trị Viên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4481870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Chịu trách nhiệm toàn bộ hệ thống: quản lý danh mục sách, đơn hàng, người dùng, và xem báo cáo thống kê.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3053715"/>
            <a:ext cx="6408063" cy="2411254"/>
          </a:xfrm>
          <a:prstGeom prst="roundRect">
            <a:avLst>
              <a:gd name="adj" fmla="val 1411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59027" y="3084195"/>
            <a:ext cx="6347103" cy="680442"/>
          </a:xfrm>
          <a:prstGeom prst="rect">
            <a:avLst/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2498" y="3254216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5842" y="3991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Khách Hàng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685842" y="4481870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Thực hiện các chức năng mua sắm: tra cứu sách, xem chi tiết sản phẩm, thêm vào giỏ hàng và đặt mua sách.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1133951" y="5975271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Phạm vi công nghệ: Toàn bộ hệ thống được xây dựng trên mô hình Client-Server, đảm bảo khả năng truy cập đa nền tảng.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5720120"/>
            <a:ext cx="30480" cy="1236107"/>
          </a:xfrm>
          <a:prstGeom prst="rect">
            <a:avLst/>
          </a:prstGeom>
          <a:solidFill>
            <a:srgbClr val="1B5F39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647" y="474345"/>
            <a:ext cx="9012436" cy="53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Yêu Cầu Chức Năng (Functional Requirements)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03647" y="1358265"/>
            <a:ext cx="13423106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Các chức năng cốt lõi được phát triển để đáp ứng đầy đủ nhu cầu của một hệ thống quản lý hiệu sách hiện đại.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3647" y="1828205"/>
            <a:ext cx="689967" cy="1047631"/>
          </a:xfrm>
          <a:prstGeom prst="roundRect">
            <a:avLst>
              <a:gd name="adj" fmla="val 360001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9269" y="2190274"/>
            <a:ext cx="258723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6017" y="2000607"/>
            <a:ext cx="2587347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Quản lý Người dùng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6017" y="2427446"/>
            <a:ext cx="12560737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Đăng nhập, Đăng ký, và phân quyền (Admin/Customer).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647" y="3048238"/>
            <a:ext cx="689967" cy="1047631"/>
          </a:xfrm>
          <a:prstGeom prst="roundRect">
            <a:avLst>
              <a:gd name="adj" fmla="val 360001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9269" y="3410307"/>
            <a:ext cx="258723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6017" y="3220641"/>
            <a:ext cx="2767846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Quản lý Danh mục Sách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6017" y="3647480"/>
            <a:ext cx="12560737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Thực hiện các thao tác CRUD (thêm, sửa, xóa) sách, tìm kiếm và phân loại theo danh mục.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3647" y="4268272"/>
            <a:ext cx="689967" cy="1047631"/>
          </a:xfrm>
          <a:prstGeom prst="roundRect">
            <a:avLst>
              <a:gd name="adj" fmla="val 360001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9269" y="4630341"/>
            <a:ext cx="258723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6017" y="4440674"/>
            <a:ext cx="2587347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Quy trình Mua hàng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6017" y="4867513"/>
            <a:ext cx="12560737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Hỗ trợ Giỏ hàng ảo, đặt hàng và xác nhận thanh toán.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3647" y="5488305"/>
            <a:ext cx="689967" cy="1047631"/>
          </a:xfrm>
          <a:prstGeom prst="roundRect">
            <a:avLst>
              <a:gd name="adj" fmla="val 360001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9269" y="5850374"/>
            <a:ext cx="258723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6017" y="5660708"/>
            <a:ext cx="2587347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Quản lý Đơn hàng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6017" y="6087547"/>
            <a:ext cx="12560737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Cập nhật trạng thái giao dịch, theo dõi và xử lý đơn hàng.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3647" y="6708338"/>
            <a:ext cx="689967" cy="1047631"/>
          </a:xfrm>
          <a:prstGeom prst="roundRect">
            <a:avLst>
              <a:gd name="adj" fmla="val 360001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9269" y="7070407"/>
            <a:ext cx="258723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6017" y="6880741"/>
            <a:ext cx="2587347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Báo cáo &amp; Thống kê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6017" y="7307580"/>
            <a:ext cx="12560737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Thống kê doanh thu, sản phẩm bán chạy, và hiệu suất bán hàng.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999" y="762714"/>
            <a:ext cx="13126402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Yêu Cầu Phi Chức Năng (Non-functional Requirements)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1999" y="2535436"/>
            <a:ext cx="13126402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Các yếu tố phi chức năng đảm bảo hệ thống hoạt động ổn định, an toàn và có khả năng phát triển trong tương lai.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999" y="3120985"/>
            <a:ext cx="537210" cy="5372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1999" y="3926800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Hiệu năng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51999" y="4391382"/>
            <a:ext cx="6428899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Thời gian phản hồi nhanh, tải trang mượt mà ngay cả với lượng truy cập lớn.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9503" y="3120985"/>
            <a:ext cx="537210" cy="5372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9503" y="3926800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Bảo mật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7449503" y="4391382"/>
            <a:ext cx="6428899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Áp dụng xác thực JWT (JSON Web Token) và cơ chế phân quyền dựa trên vai trò người dùng (role-based access control).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1999" y="5508784"/>
            <a:ext cx="537210" cy="5372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1999" y="6314599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Khả năng Mở rộng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751999" y="6779181"/>
            <a:ext cx="6428899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Cấu trúc mã linh hoạt, dễ dàng tích hợp thêm các tính năng mới trong tương lai.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49503" y="5508784"/>
            <a:ext cx="537210" cy="5372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9503" y="6314599"/>
            <a:ext cx="278141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Thân thiện người dùng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7449503" y="6779181"/>
            <a:ext cx="6428899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Thiết kế giao diện responsive (tương thích với nhiều thiết bị), tối ưu hóa UX/UI để dễ dàng thao tác.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690" y="597694"/>
            <a:ext cx="10477500" cy="67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Biểu Đồ Use Case Tổng Quát Của Hệ Thống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0690" y="1711642"/>
            <a:ext cx="13109019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Biểu đồ Use Case giúp xác định ranh giới hệ thống và các tương tác chính giữa tác nhân và chức năng.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0690" y="2521148"/>
            <a:ext cx="3260408" cy="40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Tác nhân chính: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760690" y="3173016"/>
            <a:ext cx="3561398" cy="774144"/>
          </a:xfrm>
          <a:prstGeom prst="roundRect">
            <a:avLst>
              <a:gd name="adj" fmla="val 4212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7979" y="3390305"/>
            <a:ext cx="271700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Quản trị viên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60690" y="4164449"/>
            <a:ext cx="3561398" cy="774144"/>
          </a:xfrm>
          <a:prstGeom prst="roundRect">
            <a:avLst>
              <a:gd name="adj" fmla="val 4212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77979" y="4381738"/>
            <a:ext cx="2717006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Khách hàng</a:t>
            </a:r>
            <a:endParaRPr lang="en-US" sz="2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12" y="2548295"/>
            <a:ext cx="9017198" cy="508170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73339" y="2988614"/>
            <a:ext cx="1670094" cy="24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Admin: Manage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73339" y="3309530"/>
            <a:ext cx="1670094" cy="39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Books, categories, orders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2002451" y="2988614"/>
            <a:ext cx="1661211" cy="24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Customer: Browse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2002451" y="3309530"/>
            <a:ext cx="1661211" cy="39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View books, add to cart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135662" y="6202212"/>
            <a:ext cx="1607909" cy="49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Customer: Checkout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135662" y="6772975"/>
            <a:ext cx="1607909" cy="39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 and complete order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949150" y="6651938"/>
            <a:ext cx="1714512" cy="24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Auth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1949150" y="6972854"/>
            <a:ext cx="1714512" cy="199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Login and register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39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140" y="3220403"/>
            <a:ext cx="11614666" cy="65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Biểu Đồ Lớp (Class Diagram) và Quan Hệ Dữ Liệu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739140" y="4196953"/>
            <a:ext cx="1315212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Mô hình hóa cấu trúc dữ liệu cơ sở, xác định các thực thể chính và mối quan hệ giữa chúng trong hệ thống.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39140" y="4983480"/>
            <a:ext cx="3167658" cy="39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Các Thực Thể Chính: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39140" y="5590580"/>
            <a:ext cx="631852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(Người dùng)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39140" y="6002298"/>
            <a:ext cx="631852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Book (Sách)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9140" y="6414016"/>
            <a:ext cx="631852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Order (Đơn hàng)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39140" y="6825734"/>
            <a:ext cx="631852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OrderItem (Chi tiết Đơn hàng)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39140" y="7237452"/>
            <a:ext cx="631852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Category (Danh mục)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580352" y="4983480"/>
            <a:ext cx="3167658" cy="39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Mối Quan Hệ: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7580352" y="5590580"/>
            <a:ext cx="631852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1-n: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User – Order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580352" y="6002298"/>
            <a:ext cx="631852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n-1: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Book – Category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580352" y="6414016"/>
            <a:ext cx="6318528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n-n: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Order – Book (qua OrderItem)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9215"/>
            <a:ext cx="92498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Kiến Trúc Hệ Thống (Mô Hình 3 Lớp)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16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Hệ thống được thiết kế theo kiến trúc phân tầng 3 lớp, đảm bảo tính modular, khả năng bảo trì và mở rộng cao.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1133951" y="4026932"/>
            <a:ext cx="3856077" cy="226814"/>
          </a:xfrm>
          <a:prstGeom prst="roundRect">
            <a:avLst>
              <a:gd name="adj" fmla="val 15001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3790" y="3800058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930" y="3970199"/>
            <a:ext cx="340162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707374"/>
            <a:ext cx="32042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Lớp Frontend (Giao Diện)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5197793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Sử dụng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ReactJS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và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TailwindCSS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Nhiệm vụ: Tương tác với người dùng, hiển thị dữ liệu và gửi yêu cầu API.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557123" y="3686651"/>
            <a:ext cx="3856077" cy="226814"/>
          </a:xfrm>
          <a:prstGeom prst="roundRect">
            <a:avLst>
              <a:gd name="adj" fmla="val 15001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216962" y="3459778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7102" y="3629918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367093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Lớp Backend (Logic Nghiệp Vụ)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3776" y="5211842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Xây dựng với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NestJS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Nhiệm vụ: Xử lý logic nghiệp vụ phức tạp, xác thực người dùng và điều phối dữ liệu.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980295" y="3346490"/>
            <a:ext cx="3856077" cy="226814"/>
          </a:xfrm>
          <a:prstGeom prst="roundRect">
            <a:avLst>
              <a:gd name="adj" fmla="val 15001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40133" y="3119616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10274" y="3289756"/>
            <a:ext cx="340162" cy="3401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4026932"/>
            <a:ext cx="29740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Lớp Database (Dữ Liệu)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66948" y="451735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Sử dụng </a:t>
            </a: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MySQL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Nhiệm vụ: Lưu trữ tập trung và quản lý toàn bộ dữ liệu (sách, đơn hàng, người dùng).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8805"/>
            <a:ext cx="104772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Kết Luận Và Hướng Phát Triển Tương Lai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8121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Đề tài đã hoàn thành các mục tiêu đề ra, xây dựng thành công một hệ thống quản lý hiệu sách trực tuyến ổn định và thân thiện.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28898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Kết quả đạt được: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941088"/>
            <a:ext cx="55648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Hoàn thiện các chức năng cốt lõi theo yêu cầu PTTKPM.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46188"/>
            <a:ext cx="55648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Hệ thống hoạt động ổn định, dữ liệu đồng bộ giữa các lớp.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51289"/>
            <a:ext cx="55648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Nâng cao kỹ năng lập trình Fullstack và phân tích hệ thống.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356390"/>
            <a:ext cx="55648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Website có giao diện đẹp, sẵn sàng triển khai thực tế.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919674" y="328898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Định hướng mở rộng:</a:t>
            </a:r>
            <a:endParaRPr lang="en-US" sz="2650" dirty="0"/>
          </a:p>
        </p:txBody>
      </p:sp>
      <p:sp>
        <p:nvSpPr>
          <p:cNvPr id="10" name="Shape 8"/>
          <p:cNvSpPr/>
          <p:nvPr/>
        </p:nvSpPr>
        <p:spPr>
          <a:xfrm>
            <a:off x="6919674" y="3969425"/>
            <a:ext cx="6924437" cy="877491"/>
          </a:xfrm>
          <a:prstGeom prst="roundRect">
            <a:avLst>
              <a:gd name="adj" fmla="val 16673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89194" y="3969425"/>
            <a:ext cx="121920" cy="877491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68408" y="4226719"/>
            <a:ext cx="63184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Tích hợp Thanh toán Trực tuyến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(Momo, ZaloPay, v.v.).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919674" y="5073729"/>
            <a:ext cx="6924437" cy="877491"/>
          </a:xfrm>
          <a:prstGeom prst="roundRect">
            <a:avLst>
              <a:gd name="adj" fmla="val 16673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89194" y="5073729"/>
            <a:ext cx="121920" cy="877491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68408" y="5331023"/>
            <a:ext cx="63184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Tính năng Gợi ý Cá nhân hóa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và đánh giá sách.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6919674" y="6178034"/>
            <a:ext cx="6924437" cy="877491"/>
          </a:xfrm>
          <a:prstGeom prst="roundRect">
            <a:avLst>
              <a:gd name="adj" fmla="val 16673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89194" y="6178034"/>
            <a:ext cx="121920" cy="877491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68408" y="6435328"/>
            <a:ext cx="63184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Phát triển Ứng dụng Di động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đồng bộ với hệ thống web.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1150</Words>
  <Application>Microsoft Office PowerPoint</Application>
  <PresentationFormat>Custom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Lora</vt:lpstr>
      <vt:lpstr>Alice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Bằng Nguyễn</cp:lastModifiedBy>
  <cp:revision>2</cp:revision>
  <dcterms:created xsi:type="dcterms:W3CDTF">2025-10-26T18:56:35Z</dcterms:created>
  <dcterms:modified xsi:type="dcterms:W3CDTF">2025-10-26T18:58:12Z</dcterms:modified>
</cp:coreProperties>
</file>